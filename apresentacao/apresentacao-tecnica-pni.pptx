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2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59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0B3D59"/>
                </a:solidFill>
                <a:latin typeface="Calibri"/>
              </a:rPr>
              <a:t>Tamanho do CSV por mês (GB)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 (CSV descompactado)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B75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7.3</c:v>
                </c:pt>
                <c:pt idx="1">
                  <c:v>5.4</c:v>
                </c:pt>
                <c:pt idx="2">
                  <c:v>9.6999999999999993</c:v>
                </c:pt>
                <c:pt idx="3">
                  <c:v>16.7</c:v>
                </c:pt>
                <c:pt idx="4">
                  <c:v>12.8</c:v>
                </c:pt>
                <c:pt idx="5">
                  <c:v>10.5</c:v>
                </c:pt>
                <c:pt idx="6">
                  <c:v>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E1-4CD7-B57F-F0D9661A27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8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0B3D5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3291840" cy="3291840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Vacinal — PNI / DataSUS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medalhão no BigQuery, transformação em dbt e consumo em Power BI — o que foi construído, validado e corrigido até aqui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805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Andressa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github.com/gioalvarino/Projeto-MBA-Uniesp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Pós-graduação · Engenharia de Dados aplicada à saúde pública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este material cobre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EA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7830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pergunta de negócio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PNI, e qual insight o projeto persegue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EA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25880" y="3200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decisões técnicas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356616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Medalhão, BigQuery, dbt — e por que cada escolha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EA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25880" y="46177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real, em escala real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49834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meses, ~70 GB, ~115 milhões de linhas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EA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12280" y="17830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Qualidade: achados e correções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2280" y="214884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reais encontrados e corrigidos com dado de produção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0" y="3154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EA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12280" y="3200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custo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356616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projeto se manteve em R$ 0,00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EA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12280" y="46177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 e próximos passos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49834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pendências e o que falta fechar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ADR 0001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cobertura vacinal, por que o PNI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92240" cy="429768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de escolha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5852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pública e real — dados abertos do Ministério da Saúde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real, com atualização frequente (semanal)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"sujo" de verdade — dá função real à camada de qualidade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de negócio óbvia, capaz de sustentar um insight final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69480" y="1737360"/>
            <a:ext cx="4343400" cy="429768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ALVO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0" y="23317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vacinal por município contra a meta, cruzando com população do IBGE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9520" y="36118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há queda de cobertura e desigualdade regional — a pergunta que toda a arquitetura foi desenhada para responder.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89520" y="5349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dadosabertos.saude.gov.br/dataset/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8F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doses-aplicadas-pelo-programa-de-nacional-de-imunizacoes-pni-2026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· ADR 0004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da fonte ao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463040" cy="1737360"/>
          </a:xfrm>
          <a:prstGeom prst="rect">
            <a:avLst/>
          </a:prstGeom>
          <a:solidFill>
            <a:srgbClr val="5B6B7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71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 mensais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47672" y="3493008"/>
            <a:ext cx="219456" cy="237744"/>
          </a:xfrm>
          <a:prstGeom prst="rightArrow">
            <a:avLst/>
          </a:prstGeom>
          <a:solidFill>
            <a:srgbClr val="E4EAEC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2743200"/>
            <a:ext cx="1645920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33832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job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(sempre grátis)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67912" y="3493008"/>
            <a:ext cx="219456" cy="237744"/>
          </a:xfrm>
          <a:prstGeom prst="rightArrow">
            <a:avLst/>
          </a:prstGeom>
          <a:solidFill>
            <a:srgbClr val="E4EAEC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2743200"/>
            <a:ext cx="1645920" cy="17373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3832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cru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carga_log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88152" y="3493008"/>
            <a:ext cx="219456" cy="237744"/>
          </a:xfrm>
          <a:prstGeom prst="rightArrow">
            <a:avLst/>
          </a:prstGeom>
          <a:solidFill>
            <a:srgbClr val="E4EAEC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2743200"/>
            <a:ext cx="1828800" cy="17373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3383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· enriquecimento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91272" y="3493008"/>
            <a:ext cx="219456" cy="237744"/>
          </a:xfrm>
          <a:prstGeom prst="rightArrow">
            <a:avLst/>
          </a:prstGeom>
          <a:solidFill>
            <a:srgbClr val="E4EAEC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2743200"/>
            <a:ext cx="1645920" cy="17373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33832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+ dimensões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11512" y="3493008"/>
            <a:ext cx="219456" cy="237744"/>
          </a:xfrm>
          <a:prstGeom prst="rightArrow">
            <a:avLst/>
          </a:prstGeom>
          <a:solidFill>
            <a:srgbClr val="E4EAE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58400" y="2743200"/>
            <a:ext cx="1645920" cy="1737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0" y="33832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narrativa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0" y="47091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dbt-bigquery orquestra bronze → silver → gold  ·  GitHub Actions orquestra o dbt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dos Dados / IBGE enriquece a silver (nome + população de município) — sem custo de armazenamento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3492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"Separa responsabilidade de reprocessamento — se a regra de negócio muda, reprocesso da bronze sem tocar na fonte; se a fonte muda o schema, o impacto fica isolado na silver."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· ADR 0002 E 0003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Ingestão e onde os dados moram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9768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Ingestão: só CSV, recarga por partição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testada e descartada — não garante ordenação estável entre requisições. CSV mensal + load job (sempre gratuito) + partição $AAAAMM em WRITE_TRUNCATE.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4754880"/>
            <a:ext cx="4709160" cy="0"/>
          </a:xfrm>
          <a:prstGeom prst="line">
            <a:avLst/>
          </a:prstGeom>
          <a:noFill/>
          <a:ln w="12700">
            <a:solidFill>
              <a:srgbClr val="E4E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8920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5440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da camada de ingestão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49240" cy="429768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BigQuery com billing habilitado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alternativas avaliadas (Apache Hop, Postgres free, Fabric, Databricks, MotherDuck, dbt Cloud, DuckDB, sandbox do BigQuery). Sandbox expira em 60 dias e não suporta DML.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4754880"/>
            <a:ext cx="4709160" cy="0"/>
          </a:xfrm>
          <a:prstGeom prst="line">
            <a:avLst/>
          </a:prstGeom>
          <a:noFill/>
          <a:ln w="12700">
            <a:solidFill>
              <a:srgbClr val="E4EA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8920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GiB + 1 TiB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37960" y="5440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always-free permanente (armazenamento + consulta/mês)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· ADR 0004 · 0005 · 0006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e conformidade, desde a primeira linha de código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94360" cy="59436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84708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medalhão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— reprocessamento isolado por camada, lineage automático via dbt docs.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594360" cy="594360"/>
          </a:xfrm>
          <a:prstGeom prst="ellipse">
            <a:avLst/>
          </a:prstGeom>
          <a:solidFill>
            <a:srgbClr val="E553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91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26440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por design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6118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 e código de paciente não avançam além da silver. Toda agregação é por município e faixa etária — nunca por indivíduo.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09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68172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por pessoa (schema)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50292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materializa só no próprio dev_&lt;nome&gt;; só a service account do CI escreve em silver/gold.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meses de dado real carregado (jan–jul/2026)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81812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 GB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818120" y="2468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CSV descompactado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818120" y="3246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~115 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18120" y="3794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na silver (deduplicadas)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18120" y="4572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5.570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818120" y="5120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cobertos (IBGE)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Achados reais — só aparecem em escala de produção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96596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2011680" cy="411480"/>
          </a:xfrm>
          <a:prstGeom prst="rect">
            <a:avLst/>
          </a:prstGeom>
          <a:solidFill>
            <a:srgbClr val="E553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999999 / XX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Sentinelas de "ignorado" da fonte disfarçadas de código IBGE/UF real — quebravam a chave única de município. Tratadas como nulo (ADR 0007).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783080"/>
            <a:ext cx="5212080" cy="196596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011680"/>
            <a:ext cx="2011680" cy="411480"/>
          </a:xfrm>
          <a:prstGeom prst="rect">
            <a:avLst/>
          </a:prstGeom>
          <a:solidFill>
            <a:srgbClr val="E5533C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≠ entre estabelecimento e paciente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2560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"AREZ" vs "ARES", mesmo código IBGE. Regra fixada: juntar sempre pelo código, nunca pelo nome.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212080" cy="196596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251960"/>
            <a:ext cx="2011680" cy="411480"/>
          </a:xfrm>
          <a:prstGeom prst="rect">
            <a:avLst/>
          </a:prstGeom>
          <a:solidFill>
            <a:srgbClr val="E5533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51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= "0"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bebê com menos de 1 ano, não idade faltante — cuidado ao montar faixas etárias.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4023360"/>
            <a:ext cx="5212080" cy="196596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4251960"/>
            <a:ext cx="2011680" cy="411480"/>
          </a:xfrm>
          <a:prstGeom prst="rect">
            <a:avLst/>
          </a:prstGeom>
          <a:solidFill>
            <a:srgbClr val="E55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4251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vazia com município preenchido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4800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1.162 de 8,9M linhas (fev/2026) — UF derivada dos 2 primeiros dígitos do código do município em vez de descartar a informação.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 · ADR 0008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Gold: modelo estrela, grão agregado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0" y="3017520"/>
            <a:ext cx="3200400" cy="137160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3182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fct_cobertura_vacinal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48056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qtd_doses  ·  grão: mês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3931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linha por combinação de dimensões — não por dose aplicada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651760" cy="1051560"/>
          </a:xfrm>
          <a:prstGeom prst="rect">
            <a:avLst/>
          </a:prstGeom>
          <a:solidFill>
            <a:srgbClr val="F4F7F8"/>
          </a:solidFill>
          <a:ln w="12700">
            <a:solidFill>
              <a:srgbClr val="E4EA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(era dia)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1691640"/>
            <a:ext cx="2651760" cy="1051560"/>
          </a:xfrm>
          <a:prstGeom prst="rect">
            <a:avLst/>
          </a:prstGeom>
          <a:solidFill>
            <a:srgbClr val="F4F7F8"/>
          </a:solidFill>
          <a:ln w="12700">
            <a:solidFill>
              <a:srgbClr val="E4EA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dim_municipio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nome/pop. IBGE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2651760" cy="1051560"/>
          </a:xfrm>
          <a:prstGeom prst="rect">
            <a:avLst/>
          </a:prstGeom>
          <a:solidFill>
            <a:srgbClr val="F4F7F8"/>
          </a:solidFill>
          <a:ln w="12700">
            <a:solidFill>
              <a:srgbClr val="E4EA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074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dim_vacina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nome (fonte)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0" y="4937760"/>
            <a:ext cx="2651760" cy="1051560"/>
          </a:xfrm>
          <a:prstGeom prst="rect">
            <a:avLst/>
          </a:prstGeom>
          <a:solidFill>
            <a:srgbClr val="F4F7F8"/>
          </a:solidFill>
          <a:ln w="12700">
            <a:solidFill>
              <a:srgbClr val="E4EA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5074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dim_perfil_paciente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12480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raça/cor + sexo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5806440"/>
            <a:ext cx="2651760" cy="1051560"/>
          </a:xfrm>
          <a:prstGeom prst="rect">
            <a:avLst/>
          </a:prstGeom>
          <a:solidFill>
            <a:srgbClr val="F4F7F8"/>
          </a:solidFill>
          <a:ln w="12700">
            <a:solidFill>
              <a:srgbClr val="E4EA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5943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dim_estrategia_vacinacao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80560" y="6309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nome (fonte)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REAL · ADENDO ADR 0008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milhões de linhas viraram 16,2 milhões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adicionar perfil demográfico e estratégia de vacinação como novas chaves, o grão diário original deixou de comprimir — a fato cresceu 10x além do objetivo do próprio desenho ("milhares de linhas, não milhões").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2651760"/>
            <a:ext cx="4206240" cy="2377440"/>
          </a:xfrm>
          <a:prstGeom prst="rect">
            <a:avLst/>
          </a:prstGeom>
          <a:solidFill>
            <a:srgbClr val="112E40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9718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55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49,0 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280160" y="3977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 diário (data_vacina)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4389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em fct_cobertura_vacinal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2651760"/>
            <a:ext cx="4206240" cy="2377440"/>
          </a:xfrm>
          <a:prstGeom prst="rect">
            <a:avLst/>
          </a:prstGeom>
          <a:solidFill>
            <a:srgbClr val="112E4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9718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16,2 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3977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 mensal (mes_vacina)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4389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em fct_cobertura_vacinal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3520440"/>
            <a:ext cx="1051560" cy="5029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349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vacinal é reportada por mês/ano — nunca por dia. A granularidade perdida não era usada; o tamanho recuperado, sim.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 · ADR 0004 + 0009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 e população reais de município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isso, dim_municipio só permitia contar doses — não calcular a taxa de cobertura (doses ÷ população), o indicador central do projeto.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611880" cy="347472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dos Dados (BigQuery público)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br_bd_diretorios_brasil.municipio + br_ibge_populacao.municipio — consultado via source() do dbt, sem copiar dado, sem custo de armazenamento.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6552" y="2468880"/>
            <a:ext cx="3611880" cy="347472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0" name="Text 8"/>
          <p:cNvSpPr/>
          <p:nvPr/>
        </p:nvSpPr>
        <p:spPr>
          <a:xfrm>
            <a:off x="4690872" y="2697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90872" y="2971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estimativa mais recente disponível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90872" y="37947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trava em 2025: usa o ano mais recente com valor preenchido por município — corrige lacunas pontuais sem descartar informação.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84464" y="2468880"/>
            <a:ext cx="3611880" cy="347472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4" name="Text 12"/>
          <p:cNvSpPr/>
          <p:nvPr/>
        </p:nvSpPr>
        <p:spPr>
          <a:xfrm>
            <a:off x="8558784" y="2697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58784" y="2971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5.569 de 5.570 municípios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58784" y="37947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1 município (Boa Esperança do Norte/MT) sem estimativa em nenhum ano — limitação aceita e documentada, teste como warning.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REAL · 2º REFINAMENTO ADR 0009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join de município não batia com nenhum município real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556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7373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D7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conectar o Power BI, nome_municipio, populacao e ano_populacao vieram vazios para TODOS os municípios — não só o caso isolado já conhecido.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7157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raiz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26974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D7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PNI usa o código legado de 6 dígitos do DATASUS/SUS. A Base dos Dados usa o código IBGE de 7 dígitos (6 dígitos + dígito verificador). O join nunca batia.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6758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passou despercebido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36576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D7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existia teste de not_null em nome_municipio/populacao na própria dim_municipio — só um teste isolado na tabela de origem.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636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46177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D7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id_municipio_6d = substr(id_municipio, 1, 6). Testado unique contra os 5.570 municípios reais — nenhuma colisão. Testes novos adicionados.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REAL · ADENDO ADR 0008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De-para de vacina, dose e estratégia — resolvido sem tabela externa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por tabelas oficiais do PNI (RNDS, guias estaduais) não foi conclusiva. A própria fonte já trazia o nome pronto — só não estava documentada.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0789920" cy="45720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(já vem da fonte)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dado real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0789920" cy="6858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17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co_vacina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30175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ds_nome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30175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vacinas distintas, ex.: "vacina febre amarela (atenuada)"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07899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033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co_dose_vacina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703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ds_tipo_dose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37033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"1ª Dose", "Única", "Reforço"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0789920" cy="6858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891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co_estrategia_vacinacao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4389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no_estrategia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43891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códigos — inclusive 10 a 15, que a tabela do RNDS não cobria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3035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1-pra-1 contra os 7 meses reais antes de aplicar — nenhum código apareceu com mais de um nome distinto.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· ADR 0003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real, custo real: R$ 0,00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91840" cy="4206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R$ 0,00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F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real acumulado no projeto, confirmado no relatório de faturamento do Google Cloud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874520"/>
            <a:ext cx="457200" cy="4572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85623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diária de consulta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92040" y="22219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 dura no BigQuery — recusa a consulta antes dela rodar, em vez de cobrar depois.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898648"/>
            <a:ext cx="457200" cy="4572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8803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maximum_bytes_billed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3246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segurança no profiles.yml do dbt (elevado de 10 GB para 20 GB conforme o volume real cresceu).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3922776"/>
            <a:ext cx="457200" cy="4572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90448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always-free permanente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92040" y="427024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GiB de armazenamento + 1 TiB de consulta por mês — sem cartão de crédito acionado.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4946904"/>
            <a:ext cx="457200" cy="4572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492861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orçamento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92040" y="529437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configurada em paralelo à cota técnica, como segunda camada de aviso.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CONTÍNUA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automatizados a cada mudança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10312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dbt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not_null, unique, accepted_values, relationships entre fato e dimensões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20440" cy="210312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9659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43400" y="2697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063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última validação completa contra os 7 meses reais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20440" cy="210312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9659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138160" y="2697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(aceito)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063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município sem população disponível na fonte — 0,018% do total, documentado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orquestra dbt build / dbt docs generate a cada alteração — regra combinada do trio: ninguém faz merge de código que não sabe explicar.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decisão relevante vira um ADR no momento em que é tomada — 9 registrados até aqui, incluindo os achados e correções desta apresentação.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fecha, e o que ainda falta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e validado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49240" cy="384048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4709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estrela completo (fato + 5 dimensões)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 IBGE (nome + população de município)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De-para de vacina, dose e estratégia resolvido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do join de município (6 vs 7 dígitos)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 mensal na fato (49M → 16,2M linhas)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inicial com Power BI (modo Import)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502920"/>
          </a:xfrm>
          <a:prstGeom prst="rect">
            <a:avLst/>
          </a:prstGeom>
          <a:solidFill>
            <a:srgbClr val="E5533C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7373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349240" cy="384048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514600"/>
            <a:ext cx="4709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Revalidar dbt build após as correções de hoje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as 5 tabelas afetadas no Power BI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os relacionamentos no modelo do Power BI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de estabelecimento e lote/fabricante — adiadas (risco de cardinalidade)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e visualizações finais (Ellen e Andressa)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B3D59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— Cobertura Vacinal (PNI/DataSUS)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github.com/gioalvarino/Projeto-MBA-Uniesp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ADRs, dicionário de dados e histórico de decisões — tudo público no repositório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Giovanna Alvarino · Andressa · Ellen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1979</Words>
  <Application>Microsoft Office PowerPoint</Application>
  <PresentationFormat>Widescreen</PresentationFormat>
  <Paragraphs>267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Felipe Lopes</cp:lastModifiedBy>
  <cp:revision>1</cp:revision>
  <dcterms:created xsi:type="dcterms:W3CDTF">2026-08-23T15:54:29Z</dcterms:created>
  <dcterms:modified xsi:type="dcterms:W3CDTF">2026-08-23T16:04:31Z</dcterms:modified>
</cp:coreProperties>
</file>