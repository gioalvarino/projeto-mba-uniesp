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6065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apresentacao_pni/assets/syri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" y="98572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965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UNIESP · TRABALHO DE PLATAFORMA DE DADOS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de Dados de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Vacinal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PNI / DataSUS — do dado bruto ao insight, em cinco etapas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" y="4709160"/>
            <a:ext cx="27432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892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Giovanna ·  Ellen  ·  Andressa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5257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Transformar um dado bruto em informação consumível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17980" y="1843369"/>
            <a:ext cx="365760" cy="365760"/>
          </a:xfrm>
          <a:prstGeom prst="ellipse">
            <a:avLst/>
          </a:prstGeom>
          <a:solidFill>
            <a:srgbClr val="027368"/>
          </a:solidFill>
          <a:ln/>
        </p:spPr>
      </p:sp>
      <p:sp>
        <p:nvSpPr>
          <p:cNvPr id="6" name="Text 4"/>
          <p:cNvSpPr/>
          <p:nvPr/>
        </p:nvSpPr>
        <p:spPr>
          <a:xfrm>
            <a:off x="1617980" y="184336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20800" y="2263993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apresentacao_pni/asset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830" y="2504023"/>
            <a:ext cx="480060" cy="4800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0760" y="3352129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00760" y="3827617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CSVs mensais do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PNI/DataSUS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408936" y="2661757"/>
            <a:ext cx="310896" cy="164592"/>
          </a:xfrm>
          <a:prstGeom prst="rightArrow">
            <a:avLst/>
          </a:prstGeom>
          <a:solidFill>
            <a:srgbClr val="DDE3EE"/>
          </a:solidFill>
          <a:ln/>
        </p:spPr>
      </p:sp>
      <p:sp>
        <p:nvSpPr>
          <p:cNvPr id="12" name="Shape 9"/>
          <p:cNvSpPr/>
          <p:nvPr/>
        </p:nvSpPr>
        <p:spPr>
          <a:xfrm>
            <a:off x="3775964" y="1843369"/>
            <a:ext cx="365760" cy="365760"/>
          </a:xfrm>
          <a:prstGeom prst="ellipse">
            <a:avLst/>
          </a:prstGeom>
          <a:solidFill>
            <a:srgbClr val="027368"/>
          </a:solidFill>
          <a:ln/>
        </p:spPr>
      </p:sp>
      <p:sp>
        <p:nvSpPr>
          <p:cNvPr id="13" name="Text 10"/>
          <p:cNvSpPr/>
          <p:nvPr/>
        </p:nvSpPr>
        <p:spPr>
          <a:xfrm>
            <a:off x="3775964" y="184336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478784" y="2263993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1" descr="/home/claude/apresentacao_pni/assets/cloudUp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14" y="2504023"/>
            <a:ext cx="480060" cy="4800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158744" y="3352129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158744" y="3827617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job →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(bronze)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66920" y="2661757"/>
            <a:ext cx="310896" cy="164592"/>
          </a:xfrm>
          <a:prstGeom prst="rightArrow">
            <a:avLst/>
          </a:prstGeom>
          <a:solidFill>
            <a:srgbClr val="DDE3EE"/>
          </a:solidFill>
          <a:ln/>
        </p:spPr>
      </p:sp>
      <p:sp>
        <p:nvSpPr>
          <p:cNvPr id="19" name="Shape 15"/>
          <p:cNvSpPr/>
          <p:nvPr/>
        </p:nvSpPr>
        <p:spPr>
          <a:xfrm>
            <a:off x="5933948" y="1843369"/>
            <a:ext cx="365760" cy="365760"/>
          </a:xfrm>
          <a:prstGeom prst="ellipse">
            <a:avLst/>
          </a:prstGeom>
          <a:solidFill>
            <a:srgbClr val="027368"/>
          </a:solidFill>
          <a:ln/>
        </p:spPr>
      </p:sp>
      <p:sp>
        <p:nvSpPr>
          <p:cNvPr id="20" name="Text 16"/>
          <p:cNvSpPr/>
          <p:nvPr/>
        </p:nvSpPr>
        <p:spPr>
          <a:xfrm>
            <a:off x="5933948" y="184336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636768" y="2263993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2" descr="/home/claude/apresentacao_pni/assets/co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798" y="2504023"/>
            <a:ext cx="480060" cy="4800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16728" y="3352129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5316728" y="3827617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dbt: bronze →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→ gold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724904" y="2661757"/>
            <a:ext cx="310896" cy="164592"/>
          </a:xfrm>
          <a:prstGeom prst="rightArrow">
            <a:avLst/>
          </a:prstGeom>
          <a:solidFill>
            <a:srgbClr val="DDE3EE"/>
          </a:solidFill>
          <a:ln/>
        </p:spPr>
      </p:sp>
      <p:sp>
        <p:nvSpPr>
          <p:cNvPr id="26" name="Shape 21"/>
          <p:cNvSpPr/>
          <p:nvPr/>
        </p:nvSpPr>
        <p:spPr>
          <a:xfrm>
            <a:off x="8091932" y="1843369"/>
            <a:ext cx="365760" cy="365760"/>
          </a:xfrm>
          <a:prstGeom prst="ellipse">
            <a:avLst/>
          </a:prstGeom>
          <a:solidFill>
            <a:srgbClr val="027368"/>
          </a:solidFill>
          <a:ln/>
        </p:spPr>
      </p:sp>
      <p:sp>
        <p:nvSpPr>
          <p:cNvPr id="27" name="Text 22"/>
          <p:cNvSpPr/>
          <p:nvPr/>
        </p:nvSpPr>
        <p:spPr>
          <a:xfrm>
            <a:off x="8091932" y="184336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7794752" y="2263993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3" descr="/home/claude/apresentacao_pni/assets/layerGrou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4782" y="2504023"/>
            <a:ext cx="480060" cy="4800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74712" y="3352129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PREPARADOS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7474712" y="3827617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estrela +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larga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8882888" y="2661757"/>
            <a:ext cx="310896" cy="164592"/>
          </a:xfrm>
          <a:prstGeom prst="rightArrow">
            <a:avLst/>
          </a:prstGeom>
          <a:solidFill>
            <a:srgbClr val="DDE3EE"/>
          </a:solidFill>
          <a:ln/>
        </p:spPr>
      </p:sp>
      <p:sp>
        <p:nvSpPr>
          <p:cNvPr id="33" name="Shape 27"/>
          <p:cNvSpPr/>
          <p:nvPr/>
        </p:nvSpPr>
        <p:spPr>
          <a:xfrm>
            <a:off x="10249916" y="1843369"/>
            <a:ext cx="365760" cy="365760"/>
          </a:xfrm>
          <a:prstGeom prst="ellipse">
            <a:avLst/>
          </a:prstGeom>
          <a:solidFill>
            <a:srgbClr val="027368"/>
          </a:solidFill>
          <a:ln/>
        </p:spPr>
      </p:sp>
      <p:sp>
        <p:nvSpPr>
          <p:cNvPr id="34" name="Text 28"/>
          <p:cNvSpPr/>
          <p:nvPr/>
        </p:nvSpPr>
        <p:spPr>
          <a:xfrm>
            <a:off x="10249916" y="184336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9952736" y="2263993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4" descr="/home/claude/apresentacao_pni/assets/chartPi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2766" y="2504023"/>
            <a:ext cx="480060" cy="48006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632696" y="3352129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9632696" y="3827617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no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Studio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640080" y="4898812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EAF6F4"/>
          </a:solidFill>
          <a:ln/>
        </p:spPr>
      </p:sp>
      <p:sp>
        <p:nvSpPr>
          <p:cNvPr id="40" name="Shape 33"/>
          <p:cNvSpPr/>
          <p:nvPr/>
        </p:nvSpPr>
        <p:spPr>
          <a:xfrm>
            <a:off x="868680" y="5109124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1" name="Image 5" descr="/home/claude/apresentacao_pni/assets/lightbu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2411" y="5242855"/>
            <a:ext cx="326898" cy="32689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645920" y="5035972"/>
            <a:ext cx="9601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importante que a ferramenta escolhida é conseguir justificar as decisões da solução — por isso o projeto documenta cada escolha relevante como um ADR (Architecture Decision Record).</a:t>
            </a:r>
            <a:endParaRPr lang="en-US" sz="1400" dirty="0"/>
          </a:p>
        </p:txBody>
      </p:sp>
      <p:sp>
        <p:nvSpPr>
          <p:cNvPr id="43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Cobertura Vacinal · PNI/DataSUS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01 + 02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 e Ingestão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8745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apresentacao_pni/asset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85" y="20500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97510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Fonte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74520" y="2286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PNI/DataSUS — doses aplicadas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60120" y="2704252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</a:rPr>
              <a:t>Fonte pública e real.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</a:rPr>
              <a:t>CSVs mensais </a:t>
            </a:r>
            <a:r>
              <a:rPr lang="en-US" sz="1300" dirty="0" err="1">
                <a:solidFill>
                  <a:srgbClr val="1F2937"/>
                </a:solidFill>
              </a:rPr>
              <a:t>baixados</a:t>
            </a:r>
            <a:r>
              <a:rPr lang="en-US" sz="1300" dirty="0">
                <a:solidFill>
                  <a:srgbClr val="1F2937"/>
                </a:solidFill>
              </a:rPr>
              <a:t> </a:t>
            </a:r>
            <a:r>
              <a:rPr lang="en-US" sz="1300" dirty="0" err="1">
                <a:solidFill>
                  <a:srgbClr val="1F2937"/>
                </a:solidFill>
              </a:rPr>
              <a:t>manualmente</a:t>
            </a:r>
            <a:r>
              <a:rPr lang="en-US" sz="1300" dirty="0">
                <a:solidFill>
                  <a:srgbClr val="1F2937"/>
                </a:solidFill>
              </a:rPr>
              <a:t>.
</a:t>
            </a:r>
            <a:r>
              <a:rPr lang="en-US" sz="2200" b="1" dirty="0">
                <a:solidFill>
                  <a:srgbClr val="027368"/>
                </a:solidFill>
              </a:rPr>
              <a:t>jan – jul / 2026
</a:t>
            </a:r>
            <a:r>
              <a:rPr lang="en-US" sz="1200" dirty="0">
                <a:solidFill>
                  <a:srgbClr val="6B7280"/>
                </a:solidFill>
              </a:rPr>
              <a:t>7 meses de dados reais carregados
</a:t>
            </a:r>
            <a:r>
              <a:rPr lang="en-US" sz="2200" b="1" dirty="0">
                <a:solidFill>
                  <a:srgbClr val="027368"/>
                </a:solidFill>
              </a:rPr>
              <a:t>~70 GB
</a:t>
            </a:r>
            <a:r>
              <a:rPr lang="en-US" sz="1200" dirty="0">
                <a:solidFill>
                  <a:srgbClr val="6B7280"/>
                </a:solidFill>
              </a:rPr>
              <a:t>de CSV descompactado — decisão de escopo consciente sobre custo de armazenamento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EAF6F4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0" y="187452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/home/claude/apresentacao_pni/assets/cloudUp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245" y="205008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197510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Ingestão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98080" y="2286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load_pni_csv.py → BigQuery (bronze)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583680" y="278892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</a:rPr>
              <a:t>Load job — nunca consulta, nunca cobra: a bronze só armazena, não transforma.
</a:t>
            </a:r>
            <a:r>
              <a:rPr lang="en-US" sz="2200" b="1" dirty="0">
                <a:solidFill>
                  <a:srgbClr val="1E2761"/>
                </a:solidFill>
              </a:rPr>
              <a:t>R$ 0
</a:t>
            </a:r>
            <a:r>
              <a:rPr lang="en-US" sz="1200" dirty="0">
                <a:solidFill>
                  <a:srgbClr val="6B7280"/>
                </a:solidFill>
              </a:rPr>
              <a:t>custo da ingestão — load job é sempre gratuito no BigQuery, fora da franquia de consulta
</a:t>
            </a:r>
            <a:r>
              <a:rPr lang="en-US" sz="2200" b="1" dirty="0">
                <a:solidFill>
                  <a:srgbClr val="1E2761"/>
                </a:solidFill>
              </a:rPr>
              <a:t>~115,2 milhões
</a:t>
            </a:r>
            <a:r>
              <a:rPr lang="en-US" sz="1200" dirty="0">
                <a:solidFill>
                  <a:srgbClr val="6B7280"/>
                </a:solidFill>
              </a:rPr>
              <a:t>de linhas (doses aplicadas) carregadas na bronze, jan–jul/2026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Cobertura Vacinal · PNI/DataSUS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Transformação — arquitetura medalhão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dbt-bigquery, com testes em cada camada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5F7FB"/>
          </a:solidFill>
          <a:ln w="19050">
            <a:solidFill>
              <a:srgbClr val="B08D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48840"/>
            <a:ext cx="128016" cy="196596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35000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770632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 crua do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particionada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42232" y="3022092"/>
            <a:ext cx="365760" cy="219456"/>
          </a:xfrm>
          <a:prstGeom prst="rightArrow">
            <a:avLst/>
          </a:prstGeom>
          <a:solidFill>
            <a:srgbClr val="DDE3E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14884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5F7FB"/>
          </a:solidFill>
          <a:ln w="19050">
            <a:solidFill>
              <a:srgbClr val="9AA6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148840"/>
            <a:ext cx="128016" cy="1965960"/>
          </a:xfrm>
          <a:prstGeom prst="rect">
            <a:avLst/>
          </a:prstGeom>
          <a:solidFill>
            <a:srgbClr val="9AA6C9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35000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2770632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dados, </a:t>
            </a:r>
            <a:r>
              <a:rPr lang="en-US" sz="12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duplicatas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removidas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nomes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enriquecimento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 base de dados do IBGE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91272" y="3022092"/>
            <a:ext cx="365760" cy="219456"/>
          </a:xfrm>
          <a:prstGeom prst="rightArrow">
            <a:avLst/>
          </a:prstGeom>
          <a:solidFill>
            <a:srgbClr val="DDE3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214884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5F7FB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148840"/>
            <a:ext cx="128016" cy="1965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0" y="235000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95360" y="2770632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estrela +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larga, pronto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consumo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Achados reais que viraram decisão (ADR)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492861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4800600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Geografia de cobertura = residência do paciente, com fallback pra aplicação (ADR 0007)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531266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5184648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Nome/população do município enriquecidos via Base dos Dados/IBGE, join por código de 6 dígitos (ADR 0009)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" y="5696712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5568696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de vacina, dose e estratégia já vêm prontos na própria fonte — sem de-para externo (ADR 0008)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6080760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5952744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Grão mensal (não diário) na fato, por volume e custo de consulta (ADR 0008)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Cobertura Vacinal · PNI/DataSUS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preparados — a camada gold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estrela (referência, testado)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6596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dim_municipio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51560" y="2532888"/>
            <a:ext cx="0" cy="530352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1965960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196596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dim_vacina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240280" y="2532888"/>
            <a:ext cx="0" cy="530352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1965960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196596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dim_tempo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429000" y="2532888"/>
            <a:ext cx="0" cy="530352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69080" y="1965960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196596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faixa_etaria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17720" y="2532888"/>
            <a:ext cx="0" cy="530352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57800" y="1965960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196596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dim_perfil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806440" y="2532888"/>
            <a:ext cx="0" cy="530352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1965960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96596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dim_estrategia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995160" y="2532888"/>
            <a:ext cx="0" cy="530352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54680" y="306324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3154680" y="30632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fct_cobertura_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vacinal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41148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16.150.756 linhas · grão: mês + município + vacina + faixa etária + perfil + estratégia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18120" y="1463040"/>
            <a:ext cx="3703320" cy="3108960"/>
          </a:xfrm>
          <a:prstGeom prst="roundRect">
            <a:avLst>
              <a:gd name="adj" fmla="val 2353"/>
            </a:avLst>
          </a:prstGeom>
          <a:solidFill>
            <a:srgbClr val="EAF6F4"/>
          </a:solidFill>
          <a:ln/>
        </p:spPr>
      </p:sp>
      <p:sp>
        <p:nvSpPr>
          <p:cNvPr id="27" name="Shape 25"/>
          <p:cNvSpPr/>
          <p:nvPr/>
        </p:nvSpPr>
        <p:spPr>
          <a:xfrm>
            <a:off x="8092440" y="16916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8" name="Image 0" descr="/home/claude/apresentacao_pni/assets/layer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6059" y="1845259"/>
            <a:ext cx="332842" cy="33284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092440" y="2423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mart_cobertura_vacinal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092440" y="28803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larga, denormalizada — fato + nome de todas as dimensões numa linha só. Criada porque o Looker Studio não tem modelagem relacional.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8092440" y="3886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4,08 GB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8092440" y="42793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grão da fato — sem duplicar linha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40080" y="489204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F5F7FB"/>
          </a:solidFill>
          <a:ln/>
        </p:spPr>
      </p:sp>
      <p:sp>
        <p:nvSpPr>
          <p:cNvPr id="34" name="Shape 31"/>
          <p:cNvSpPr/>
          <p:nvPr/>
        </p:nvSpPr>
        <p:spPr>
          <a:xfrm>
            <a:off x="868680" y="510235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5" name="Image 1" descr="/home/claude/apresentacao_pni/assets/shield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411" y="5236083"/>
            <a:ext cx="326898" cy="32689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645920" y="502920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por desenho: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pessoal identificável não avança para a gold (ADR 0005). Raça/cor e sexo entram só agregados, nunca </a:t>
            </a:r>
            <a:r>
              <a:rPr lang="en-US" sz="13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ligados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um indivíduo — o modelo estrela e a mart carregam o mesmo cuidado.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Cobertura Vacinal · PNI/DataSUS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FERRAMENTAS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essas ferramentas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peça da stack foi escolhida por um motivo concreto, não por padrão de mercado.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5F7FB"/>
          </a:solidFill>
          <a:ln/>
        </p:spPr>
      </p:sp>
      <p:sp>
        <p:nvSpPr>
          <p:cNvPr id="6" name="Shape 4"/>
          <p:cNvSpPr/>
          <p:nvPr/>
        </p:nvSpPr>
        <p:spPr>
          <a:xfrm>
            <a:off x="1545336" y="2258568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apresentacao_pni/asset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901" y="2434133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15468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41248" y="3566160"/>
            <a:ext cx="213969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paga por consulta processada, já é o motor por trás do dbt e do Looker Studio — um único lugar para bronze, silver e gold.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01568" y="196596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EAF6F4"/>
          </a:solidFill>
          <a:ln/>
        </p:spPr>
      </p:sp>
      <p:sp>
        <p:nvSpPr>
          <p:cNvPr id="11" name="Shape 8"/>
          <p:cNvSpPr/>
          <p:nvPr/>
        </p:nvSpPr>
        <p:spPr>
          <a:xfrm>
            <a:off x="4306824" y="2258568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/home/claude/apresentacao_pni/asset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2389" y="2434133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15468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Build Tool - </a:t>
            </a:r>
            <a:r>
              <a:rPr lang="en-US" sz="145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02736" y="3566160"/>
            <a:ext cx="213969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como código: versionável, testável (dezenas de testes not_null/relationships) e documentada nativamente em YAML.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63056" y="196596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5F7FB"/>
          </a:solidFill>
          <a:ln/>
        </p:spPr>
      </p:sp>
      <p:sp>
        <p:nvSpPr>
          <p:cNvPr id="16" name="Shape 12"/>
          <p:cNvSpPr/>
          <p:nvPr/>
        </p:nvSpPr>
        <p:spPr>
          <a:xfrm>
            <a:off x="7068312" y="2258568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apresentacao_pni/assets/githu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3877" y="2434133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27648" y="315468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364224" y="3566160"/>
            <a:ext cx="213969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gratuito, já integrado ao repositório onde o código já vive — sem plataforma extra só para orquestrar o dbt build.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24544" y="196596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EAF6F4"/>
          </a:solidFill>
          <a:ln/>
        </p:spPr>
      </p:sp>
      <p:sp>
        <p:nvSpPr>
          <p:cNvPr id="21" name="Shape 16"/>
          <p:cNvSpPr/>
          <p:nvPr/>
        </p:nvSpPr>
        <p:spPr>
          <a:xfrm>
            <a:off x="9829800" y="2258568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2" name="Image 3" descr="/home/claude/apresentacao_pni/assets/chartP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5365" y="2434133"/>
            <a:ext cx="380390" cy="3803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89136" y="315468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Studio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125712" y="3566160"/>
            <a:ext cx="213969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Antigo Data Studio, 100% web, conecta direto no BigQuery sem exportar nada — resolve o requisito de todo o trio abrir e editar, em qualquer sistema operacional.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AF6F4"/>
          </a:solidFill>
          <a:ln/>
        </p:spPr>
      </p:sp>
      <p:sp>
        <p:nvSpPr>
          <p:cNvPr id="26" name="Text 20"/>
          <p:cNvSpPr/>
          <p:nvPr/>
        </p:nvSpPr>
        <p:spPr>
          <a:xfrm>
            <a:off x="914400" y="54406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gratuitas ou de custo controlado, e todas escolhidas de novo (ou trocadas) só quando um motivo real apareceu — nunca por padrão de mercado.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Cobertura Vacinal · PNI/DataSUS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(ADRS)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mudou de rota — e por quê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ADRs registram contexto, opções avaliadas e consequência de cada escolha relevante.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429000" cy="3246120"/>
          </a:xfrm>
          <a:prstGeom prst="roundRect">
            <a:avLst>
              <a:gd name="adj" fmla="val 2535"/>
            </a:avLst>
          </a:prstGeom>
          <a:solidFill>
            <a:srgbClr val="141A4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395728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0" descr="/home/claude/apresentacao_pni/assets/dollar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560320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2461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custo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74904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BigQuery: cota diária de consulta e maximum_bytes_billed no dbt como barreira dura — recusa a consulta em vez de cobrar.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2103120"/>
            <a:ext cx="3429000" cy="3246120"/>
          </a:xfrm>
          <a:prstGeom prst="roundRect">
            <a:avLst>
              <a:gd name="adj" fmla="val 2535"/>
            </a:avLst>
          </a:prstGeom>
          <a:solidFill>
            <a:srgbClr val="141A45"/>
          </a:solidFill>
          <a:ln/>
        </p:spPr>
      </p:sp>
      <p:sp>
        <p:nvSpPr>
          <p:cNvPr id="11" name="Shape 8"/>
          <p:cNvSpPr/>
          <p:nvPr/>
        </p:nvSpPr>
        <p:spPr>
          <a:xfrm>
            <a:off x="4663440" y="2395728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/home/claude/apresentacao_pni/assets/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560320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2461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63440" y="374904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só rodava dbt debug/compile — corrigido para dbt build de verdade, gatilho manual (sem custo recorrente).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38160" y="2103120"/>
            <a:ext cx="3429000" cy="3246120"/>
          </a:xfrm>
          <a:prstGeom prst="roundRect">
            <a:avLst>
              <a:gd name="adj" fmla="val 2535"/>
            </a:avLst>
          </a:prstGeom>
          <a:solidFill>
            <a:srgbClr val="141A45"/>
          </a:solidFill>
          <a:ln/>
        </p:spPr>
      </p:sp>
      <p:sp>
        <p:nvSpPr>
          <p:cNvPr id="16" name="Shape 12"/>
          <p:cNvSpPr/>
          <p:nvPr/>
        </p:nvSpPr>
        <p:spPr>
          <a:xfrm>
            <a:off x="8412480" y="2395728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2" descr="/home/claude/apresentacao_pni/assets/chartP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2" y="2560320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32461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→ Looker Studio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12480" y="374904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não roda no Linux de uma integrante do trio. Looker Studio é 100% web — todo mundo abre e edita.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Cobertura Vacinal · PNI/DataSUS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— a camada de consumo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Studio, conectado direto na mart_cobertura_vacinal (sem Extract Data)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F5F7FB"/>
          </a:solidFill>
          <a:ln/>
        </p:spPr>
      </p:sp>
      <p:sp>
        <p:nvSpPr>
          <p:cNvPr id="6" name="Shape 4"/>
          <p:cNvSpPr/>
          <p:nvPr/>
        </p:nvSpPr>
        <p:spPr>
          <a:xfrm>
            <a:off x="1499616" y="2788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apresentacao_pni/assets/chart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126" y="298643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886200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4572000"/>
            <a:ext cx="2267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nacional de doses aplicadas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01568" y="228600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EAF6F4"/>
          </a:solidFill>
          <a:ln/>
        </p:spPr>
      </p:sp>
      <p:sp>
        <p:nvSpPr>
          <p:cNvPr id="11" name="Shape 8"/>
          <p:cNvSpPr/>
          <p:nvPr/>
        </p:nvSpPr>
        <p:spPr>
          <a:xfrm>
            <a:off x="4261104" y="278892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/home/claude/apresentacao_pni/assets/mapMark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8614" y="298643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38728" y="3886200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Territorial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38728" y="4572000"/>
            <a:ext cx="2267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por região e município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63056" y="228600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F5F7FB"/>
          </a:solidFill>
          <a:ln/>
        </p:spPr>
      </p:sp>
      <p:sp>
        <p:nvSpPr>
          <p:cNvPr id="16" name="Shape 12"/>
          <p:cNvSpPr/>
          <p:nvPr/>
        </p:nvSpPr>
        <p:spPr>
          <a:xfrm>
            <a:off x="7022592" y="2788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apresentacao_pni/asset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0102" y="298643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0216" y="3886200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da População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00216" y="4572000"/>
            <a:ext cx="2267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etária, sexo, raça/cor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24544" y="228600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EAF6F4"/>
          </a:solidFill>
          <a:ln/>
        </p:spPr>
      </p:sp>
      <p:sp>
        <p:nvSpPr>
          <p:cNvPr id="21" name="Shape 16"/>
          <p:cNvSpPr/>
          <p:nvPr/>
        </p:nvSpPr>
        <p:spPr>
          <a:xfrm>
            <a:off x="9784080" y="278892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2" name="Image 3" descr="/home/claude/apresentacao_pni/assets/calendarA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1590" y="2986430"/>
            <a:ext cx="427939" cy="42793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61704" y="3886200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Sazonalidade &amp; Oportunidades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061704" y="4572000"/>
            <a:ext cx="2267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 mensal e gaps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Cobertura Vacinal · PNI/DataSUS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Fontes e referências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8745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apresentacao_pni/asset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20391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60120" y="2743200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578608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2937"/>
                </a:solidFill>
              </a:rPr>
              <a:t>OpenDataSUS — Doses aplicadas (PNI)
</a:t>
            </a:r>
            <a:r>
              <a:rPr lang="en-US" sz="1000" dirty="0">
                <a:solidFill>
                  <a:srgbClr val="6B7280"/>
                </a:solidFill>
              </a:rPr>
              <a:t>opendatasus.saude.gov.br/dataset/doses-aplicadas-pelo-programa-de-nacional-de-imunizacoes-pni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60120" y="3438144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273552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2937"/>
                </a:solidFill>
              </a:rPr>
              <a:t>Base dos Dados — enriquecimento IBGE (município, população, região)
</a:t>
            </a:r>
            <a:r>
              <a:rPr lang="en-US" sz="1000" dirty="0">
                <a:solidFill>
                  <a:srgbClr val="6B7280"/>
                </a:solidFill>
              </a:rPr>
              <a:t>basedosdados.org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263640" y="160020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EAF6F4"/>
          </a:solidFill>
          <a:ln/>
        </p:spPr>
      </p:sp>
      <p:sp>
        <p:nvSpPr>
          <p:cNvPr id="19" name="Shape 16"/>
          <p:cNvSpPr/>
          <p:nvPr/>
        </p:nvSpPr>
        <p:spPr>
          <a:xfrm>
            <a:off x="6583680" y="187452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0" name="Image 1" descr="/home/claude/apresentacao_pni/asset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2039112"/>
            <a:ext cx="356616" cy="35661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5236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técnica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6583680" y="2743200"/>
            <a:ext cx="64008" cy="640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19"/>
          <p:cNvSpPr/>
          <p:nvPr/>
        </p:nvSpPr>
        <p:spPr>
          <a:xfrm>
            <a:off x="6766560" y="2578608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2937"/>
                </a:solidFill>
              </a:rPr>
              <a:t>Google Cloud — preços do BigQuery (on-demand)
</a:t>
            </a:r>
            <a:r>
              <a:rPr lang="en-US" sz="1000" dirty="0">
                <a:solidFill>
                  <a:srgbClr val="6B7280"/>
                </a:solidFill>
              </a:rPr>
              <a:t>cloud.google.com/bigquery/pricing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583680" y="3438144"/>
            <a:ext cx="64008" cy="640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1"/>
          <p:cNvSpPr/>
          <p:nvPr/>
        </p:nvSpPr>
        <p:spPr>
          <a:xfrm>
            <a:off x="6766560" y="3273552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2937"/>
                </a:solidFill>
              </a:rPr>
              <a:t>Looker Studio — limites do Extract Data e cache (data freshness)
</a:t>
            </a:r>
            <a:r>
              <a:rPr lang="en-US" sz="1000" dirty="0">
                <a:solidFill>
                  <a:srgbClr val="6B7280"/>
                </a:solidFill>
              </a:rPr>
              <a:t>docs.cloud.google.com/data-studio/extract-data-for-faster-performance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583680" y="4133088"/>
            <a:ext cx="64008" cy="640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3"/>
          <p:cNvSpPr/>
          <p:nvPr/>
        </p:nvSpPr>
        <p:spPr>
          <a:xfrm>
            <a:off x="6766560" y="3968496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2937"/>
                </a:solidFill>
              </a:rPr>
              <a:t>GitHub Actions — documentação de CI/CD
</a:t>
            </a:r>
            <a:r>
              <a:rPr lang="en-US" sz="1000" dirty="0">
                <a:solidFill>
                  <a:srgbClr val="6B7280"/>
                </a:solidFill>
              </a:rPr>
              <a:t>docs.github.com/actions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583680" y="4828032"/>
            <a:ext cx="64008" cy="640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5"/>
          <p:cNvSpPr/>
          <p:nvPr/>
        </p:nvSpPr>
        <p:spPr>
          <a:xfrm>
            <a:off x="6766560" y="466344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2937"/>
                </a:solidFill>
              </a:rPr>
              <a:t>GitHub — repositório do projeto
</a:t>
            </a:r>
            <a:r>
              <a:rPr lang="en-US" sz="1000" dirty="0">
                <a:solidFill>
                  <a:srgbClr val="6B7280"/>
                </a:solidFill>
              </a:rPr>
              <a:t>github.com/gioalvarino/Projeto-MBA-Uniesp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583680" y="5522976"/>
            <a:ext cx="64008" cy="640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7"/>
          <p:cNvSpPr/>
          <p:nvPr/>
        </p:nvSpPr>
        <p:spPr>
          <a:xfrm>
            <a:off x="6766560" y="5358384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2937"/>
                </a:solidFill>
              </a:rPr>
              <a:t>dbt — documentação (dbt-bigquery)
</a:t>
            </a:r>
            <a:r>
              <a:rPr lang="en-US" sz="1000" dirty="0">
                <a:solidFill>
                  <a:srgbClr val="6B7280"/>
                </a:solidFill>
              </a:rPr>
              <a:t>docs.getdbt.com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Cobertura Vacinal · PNI/DataSUS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206240" cy="420624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3657600" cy="36576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94353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/home/claude/apresentacao_pni/assets/handsHel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29" y="218493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17797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Obrigada!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4998568" y="4075981"/>
            <a:ext cx="219456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347717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Giovanna · Ellen · Andressa  —  MBA Uniesp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4714505-4337-4666-9361-B9F82C2AE24F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bd0ae01d-c7b1-4ddb-9b73-7b39147f1c4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1089</Words>
  <Application>Microsoft Office PowerPoint</Application>
  <PresentationFormat>Widescreen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Felipe Lopes</cp:lastModifiedBy>
  <cp:revision>4</cp:revision>
  <dcterms:created xsi:type="dcterms:W3CDTF">2026-08-28T17:57:45Z</dcterms:created>
  <dcterms:modified xsi:type="dcterms:W3CDTF">2026-08-28T18:33:30Z</dcterms:modified>
</cp:coreProperties>
</file>