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D59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0B3D59"/>
                </a:solidFill>
                <a:latin typeface="Calibri"/>
              </a:rPr>
              <a:t>Tamanho do CSV por mês (GB)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GB (CSV descompactado)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B6B7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Fev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Mai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7.3</c:v>
                </c:pt>
                <c:pt idx="1">
                  <c:v>5.4</c:v>
                </c:pt>
                <c:pt idx="2">
                  <c:v>9.7</c:v>
                </c:pt>
                <c:pt idx="3">
                  <c:v>16.7</c:v>
                </c:pt>
                <c:pt idx="4">
                  <c:v>12.8</c:v>
                </c:pt>
                <c:pt idx="5">
                  <c:v>10.5</c:v>
                </c:pt>
                <c:pt idx="6">
                  <c:v>7.7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5B6B7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4EA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6400800" cy="6400800"/>
          </a:xfrm>
          <a:prstGeom prst="ellipse">
            <a:avLst/>
          </a:prstGeom>
          <a:solidFill>
            <a:srgbClr val="0B3D59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-548640"/>
            <a:ext cx="3291840" cy="3291840"/>
          </a:xfrm>
          <a:prstGeom prst="ellipse">
            <a:avLst/>
          </a:prstGeom>
          <a:solidFill>
            <a:srgbClr val="1C7293">
              <a:alpha val="7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9659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Cobertura Vacinal — PNI / DataSUS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429000"/>
            <a:ext cx="8503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medalhão no BigQuery, transformação em dbt e consumo em Power BI — o que foi construído, validado e corrigido até aqui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4343400"/>
            <a:ext cx="292608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4805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4754880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Andressa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Ellen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5623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github.com/gioalvarino/Projeto-MBA-Uniesp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63093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Pós-graduação · Engenharia de Dados aplicada à saúde pública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este material cobre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4EA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325880" y="178308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 pergunta de negócio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25880" y="2148840"/>
            <a:ext cx="4251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PNI, e qual insight o projeto persegue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31546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4EA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325880" y="320040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 decisões técnicas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5880" y="3566160"/>
            <a:ext cx="4251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Medalhão, BigQuery, dbt — e por que cada escolha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4572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4EA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325880" y="461772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real, em escala real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25880" y="4983480"/>
            <a:ext cx="4251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meses, ~70 GB, ~115 milhões de linhas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035040" y="17373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4EA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812280" y="178308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Qualidade: achados e correções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812280" y="2148840"/>
            <a:ext cx="4251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Bugs reais encontrados e corrigidos com dado de produção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35040" y="31546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4EA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812280" y="320040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custo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12280" y="3566160"/>
            <a:ext cx="4251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projeto se manteve abaixo de R$ 1,00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035040" y="4572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4EA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812280" y="461772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atual e próximos passos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12280" y="4983480"/>
            <a:ext cx="4251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BI, pendências e o que falta fechar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· ADR 0001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cobertura vacinal, por que o PNI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492240" cy="429768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critério de escolha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423160"/>
            <a:ext cx="58521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pública e real — dados abertos do Ministério da Saúde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real, com atualização frequente (semanal)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"sujo" de verdade — dá função real à camada de qualidade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de negócio óbvia, capaz de sustentar um insight final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269480" y="1737360"/>
            <a:ext cx="4343400" cy="4297680"/>
          </a:xfrm>
          <a:prstGeom prst="rect">
            <a:avLst/>
          </a:prstGeom>
          <a:solidFill>
            <a:srgbClr val="0B3D59"/>
          </a:solidFill>
          <a:ln/>
        </p:spPr>
      </p:sp>
      <p:sp>
        <p:nvSpPr>
          <p:cNvPr id="8" name="Text 6"/>
          <p:cNvSpPr/>
          <p:nvPr/>
        </p:nvSpPr>
        <p:spPr>
          <a:xfrm>
            <a:off x="7589520" y="19659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ALVO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589520" y="2331720"/>
            <a:ext cx="3749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Cobertura vacinal por município contra a meta, cruzando com população do IBGE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589520" y="3611880"/>
            <a:ext cx="3749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7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há queda de cobertura e desigualdade regional — a pergunta que toda a arquitetura foi desenhada para responder.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589520" y="534924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FA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dadosabertos.saude.gov.br/dataset/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FA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doses-aplicadas-pelo-programa-de-nacional-de-imunizacoes-pni-2026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· ADR 0004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Pipeline: da fonte ao dashboard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2743200"/>
            <a:ext cx="1463040" cy="1737360"/>
          </a:xfrm>
          <a:prstGeom prst="rect">
            <a:avLst/>
          </a:prstGeom>
          <a:solidFill>
            <a:srgbClr val="5B6B75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97180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38328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CSVs mensais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PNI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947672" y="3493008"/>
            <a:ext cx="219456" cy="237744"/>
          </a:xfrm>
          <a:prstGeom prst="rightArrow">
            <a:avLst/>
          </a:prstGeom>
          <a:solidFill>
            <a:srgbClr val="E4EAEC"/>
          </a:solidFill>
          <a:ln/>
        </p:spPr>
      </p:sp>
      <p:sp>
        <p:nvSpPr>
          <p:cNvPr id="8" name="Shape 6"/>
          <p:cNvSpPr/>
          <p:nvPr/>
        </p:nvSpPr>
        <p:spPr>
          <a:xfrm>
            <a:off x="2194560" y="2743200"/>
            <a:ext cx="1645920" cy="17373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2194560" y="29718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94560" y="338328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job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(sempre grátis)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867912" y="3493008"/>
            <a:ext cx="219456" cy="237744"/>
          </a:xfrm>
          <a:prstGeom prst="rightArrow">
            <a:avLst/>
          </a:prstGeom>
          <a:solidFill>
            <a:srgbClr val="E4EAEC"/>
          </a:solidFill>
          <a:ln/>
        </p:spPr>
      </p:sp>
      <p:sp>
        <p:nvSpPr>
          <p:cNvPr id="12" name="Shape 10"/>
          <p:cNvSpPr/>
          <p:nvPr/>
        </p:nvSpPr>
        <p:spPr>
          <a:xfrm>
            <a:off x="4114800" y="2743200"/>
            <a:ext cx="1645920" cy="1737360"/>
          </a:xfrm>
          <a:prstGeom prst="rect">
            <a:avLst/>
          </a:prstGeom>
          <a:solidFill>
            <a:srgbClr val="0B3D59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0" y="29718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0" y="338328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cru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carga_log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88152" y="3493008"/>
            <a:ext cx="219456" cy="237744"/>
          </a:xfrm>
          <a:prstGeom prst="rightArrow">
            <a:avLst/>
          </a:prstGeom>
          <a:solidFill>
            <a:srgbClr val="E4EAEC"/>
          </a:solidFill>
          <a:ln/>
        </p:spPr>
      </p:sp>
      <p:sp>
        <p:nvSpPr>
          <p:cNvPr id="16" name="Shape 14"/>
          <p:cNvSpPr/>
          <p:nvPr/>
        </p:nvSpPr>
        <p:spPr>
          <a:xfrm>
            <a:off x="6035040" y="2743200"/>
            <a:ext cx="1828800" cy="1737360"/>
          </a:xfrm>
          <a:prstGeom prst="rect">
            <a:avLst/>
          </a:prstGeom>
          <a:solidFill>
            <a:srgbClr val="0B3D59"/>
          </a:solidFill>
          <a:ln/>
        </p:spPr>
      </p:sp>
      <p:sp>
        <p:nvSpPr>
          <p:cNvPr id="17" name="Text 15"/>
          <p:cNvSpPr/>
          <p:nvPr/>
        </p:nvSpPr>
        <p:spPr>
          <a:xfrm>
            <a:off x="6035040" y="29718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35040" y="33832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tipagem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 · enriquecimento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891272" y="3493008"/>
            <a:ext cx="219456" cy="237744"/>
          </a:xfrm>
          <a:prstGeom prst="rightArrow">
            <a:avLst/>
          </a:prstGeom>
          <a:solidFill>
            <a:srgbClr val="E4EAEC"/>
          </a:solidFill>
          <a:ln/>
        </p:spPr>
      </p:sp>
      <p:sp>
        <p:nvSpPr>
          <p:cNvPr id="20" name="Shape 18"/>
          <p:cNvSpPr/>
          <p:nvPr/>
        </p:nvSpPr>
        <p:spPr>
          <a:xfrm>
            <a:off x="8138160" y="2743200"/>
            <a:ext cx="1645920" cy="1737360"/>
          </a:xfrm>
          <a:prstGeom prst="rect">
            <a:avLst/>
          </a:prstGeom>
          <a:solidFill>
            <a:srgbClr val="0B3D59"/>
          </a:solidFill>
          <a:ln/>
        </p:spPr>
      </p:sp>
      <p:sp>
        <p:nvSpPr>
          <p:cNvPr id="21" name="Text 19"/>
          <p:cNvSpPr/>
          <p:nvPr/>
        </p:nvSpPr>
        <p:spPr>
          <a:xfrm>
            <a:off x="8138160" y="29718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138160" y="338328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estrela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 + dimensões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811512" y="3493008"/>
            <a:ext cx="219456" cy="237744"/>
          </a:xfrm>
          <a:prstGeom prst="rightArrow">
            <a:avLst/>
          </a:prstGeom>
          <a:solidFill>
            <a:srgbClr val="E4EAEC"/>
          </a:solidFill>
          <a:ln/>
        </p:spPr>
      </p:sp>
      <p:sp>
        <p:nvSpPr>
          <p:cNvPr id="24" name="Shape 22"/>
          <p:cNvSpPr/>
          <p:nvPr/>
        </p:nvSpPr>
        <p:spPr>
          <a:xfrm>
            <a:off x="10058400" y="2743200"/>
            <a:ext cx="1645920" cy="17373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0" y="29718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058400" y="338328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4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narrativa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114800" y="470916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dbt-bigquery orquestra bronze → silver → gold  ·  GitHub Actions orquestra o dbt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dos Dados / IBGE enriquece a silver (nome + população de município) — sem custo de armazenamento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534924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"Separa responsabilidade de reprocessamento — se a regra de negócio muda, reprocesso da bronze sem tocar na fonte; se a fonte muda o schema, o impacto fica isolado na silver."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· ADR 0004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tem em cada camada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11880" cy="777240"/>
          </a:xfrm>
          <a:prstGeom prst="rect">
            <a:avLst/>
          </a:prstGeom>
          <a:solidFill>
            <a:srgbClr val="0B3D59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4708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E6F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cru, fiel à fonte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3611880" cy="352044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697480"/>
            <a:ext cx="31546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CSVs mensais do PNI, carregados como STRING — sem nenhuma transformação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~56 colunas cruas, 7 meses (jan–jul/2026)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Partição por mês ($AAAAMM), WRITE_TRUNCATE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_carga_log (reconciliação linhas carregadas × arquivo original)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 GB no total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79976" y="1737360"/>
            <a:ext cx="3611880" cy="7772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4379976" y="184708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379976" y="2194560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E6F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limpo, deduplicado, enriquecido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79976" y="2514600"/>
            <a:ext cx="3611880" cy="352044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13" name="Text 11"/>
          <p:cNvSpPr/>
          <p:nvPr/>
        </p:nvSpPr>
        <p:spPr>
          <a:xfrm>
            <a:off x="4608576" y="2697480"/>
            <a:ext cx="31546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stg_pni__doses_aplicadas: deduplicada, tipada, nomes por extenso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Geografia de cobertura — município/UF de residência com fallback (ADR 0007)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de vacina, dose e estratégia — resolvido direto da fonte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demográfico — raça/cor e sexo padronizados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stg_ibge__municipios: nome, população e região (Base dos Dados/IBGE)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~115 M linhas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11312" y="1737360"/>
            <a:ext cx="3611880" cy="7772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8211312" y="1847088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11312" y="2194560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E6F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estrela, pronto pro Power BI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211312" y="2514600"/>
            <a:ext cx="3611880" cy="352044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18" name="Text 16"/>
          <p:cNvSpPr/>
          <p:nvPr/>
        </p:nvSpPr>
        <p:spPr>
          <a:xfrm>
            <a:off x="8439912" y="2697480"/>
            <a:ext cx="31546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fct_cobertura_vacinal — grão mensal, qtd_doses (16,2 M linhas)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dimensões: dim_tempo, dim_municipio (+ região/pop. IBGE), dim_vacina, dim_perfil_paciente, dim_estrategia_vacinacao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 de referência: faixa_etaria, uf_ibge, meta_vacinal (metas oficiais)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agregado — sem CEP/código de paciente (LGPD, ADR 0005)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dbt-bigquery materializa cada camada como model separado — reprocessar uma não exige recriar as outras.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· ADR 0002 E 0003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Ingestão e onde os dados moram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429768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4709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Ingestão: só CSV, recarga por partição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68680" y="2697480"/>
            <a:ext cx="4709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testada e descartada — não garante ordenação estável entre requisições. CSV mensal + load job (sempre gratuito) + partição $AAAAMM em WRITE_TRUNCATE.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68680" y="4754880"/>
            <a:ext cx="4709160" cy="0"/>
          </a:xfrm>
          <a:prstGeom prst="line">
            <a:avLst/>
          </a:prstGeom>
          <a:noFill/>
          <a:ln w="12700">
            <a:solidFill>
              <a:srgbClr val="E4EA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89204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R$ 0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68680" y="544068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da camada de ingestão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737360"/>
            <a:ext cx="5349240" cy="429768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965960"/>
            <a:ext cx="4709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BigQuery com billing habilitado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537960" y="2697480"/>
            <a:ext cx="47091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alternativas avaliadas (Apache Hop, Postgres free, Fabric, Databricks, MotherDuck, dbt Cloud, DuckDB, sandbox do BigQuery). Sandbox expira em 60 dias e não suporta DML.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37960" y="4754880"/>
            <a:ext cx="4709160" cy="0"/>
          </a:xfrm>
          <a:prstGeom prst="line">
            <a:avLst/>
          </a:prstGeom>
          <a:noFill/>
          <a:ln w="12700">
            <a:solidFill>
              <a:srgbClr val="E4EA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489204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GiB + 1 TiB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537960" y="544068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always-free permanente (armazenamento + consulta/mês)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GOVERNANÇA · ADR 0004 · 0005 · 0006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Qualidade e conformidade, desde a primeira linha de código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94360" cy="594360"/>
          </a:xfrm>
          <a:prstGeom prst="ellipse">
            <a:avLst/>
          </a:prstGeom>
          <a:solidFill>
            <a:srgbClr val="0B3D59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745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63040" y="1847088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medalhão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2194560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/ silver / gold — reprocessamento isolado por camada, lineage automático via dbt docs.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594360" cy="594360"/>
          </a:xfrm>
          <a:prstGeom prst="ellipse">
            <a:avLst/>
          </a:prstGeom>
          <a:solidFill>
            <a:srgbClr val="E5533C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2918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63040" y="3264408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LGPD por design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63040" y="3611880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CEP e código de paciente não avançam além da silver. Toda agregação é por município e faixa etária — nunca por indivíduo.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70916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7091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63040" y="4681728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Isolamento por pessoa (schema)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63040" y="5029200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integrante materializa só no próprio dev_&lt;nome&gt;; só a service account do CI escreve em silver/gold.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REAL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meses de dado real carregado (jan–jul/2026)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8308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818120" y="192024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~70 GB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7818120" y="24688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 CSV descompactado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7818120" y="324612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~115 M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18120" y="37947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na silver (deduplicadas)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818120" y="457200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5.570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18120" y="512064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cobertos (IBGE)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DE DADOS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Achados reais — só aparecem em escala de produção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212080" cy="196596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011680"/>
            <a:ext cx="2011680" cy="411480"/>
          </a:xfrm>
          <a:prstGeom prst="rect">
            <a:avLst/>
          </a:prstGeom>
          <a:solidFill>
            <a:srgbClr val="E5533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0116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999999 / XX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Sentinelas de "ignorado" da fonte disfarçadas de código IBGE/UF real — quebravam a chave única de município. Tratadas como nulo (ADR 0007).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035040" y="1783080"/>
            <a:ext cx="5212080" cy="196596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9" name="Shape 7"/>
          <p:cNvSpPr/>
          <p:nvPr/>
        </p:nvSpPr>
        <p:spPr>
          <a:xfrm>
            <a:off x="6309360" y="2011680"/>
            <a:ext cx="2011680" cy="411480"/>
          </a:xfrm>
          <a:prstGeom prst="rect">
            <a:avLst/>
          </a:prstGeom>
          <a:solidFill>
            <a:srgbClr val="E5533C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20116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Nomes ≠ entre estabelecimento e paciente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09360" y="256032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"AREZ" vs "ARES", mesmo código IBGE. Regra fixada: juntar sempre pelo código, nunca pelo nome.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5212080" cy="196596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4251960"/>
            <a:ext cx="2011680" cy="411480"/>
          </a:xfrm>
          <a:prstGeom prst="rect">
            <a:avLst/>
          </a:prstGeom>
          <a:solidFill>
            <a:srgbClr val="E5533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2519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idade = "0"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480060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bebê com menos de 1 ano, não idade faltante — cuidado ao montar faixas etárias.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35040" y="4023360"/>
            <a:ext cx="5212080" cy="196596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309360" y="4251960"/>
            <a:ext cx="2011680" cy="411480"/>
          </a:xfrm>
          <a:prstGeom prst="rect">
            <a:avLst/>
          </a:prstGeom>
          <a:solidFill>
            <a:srgbClr val="E5533C"/>
          </a:solidFill>
          <a:ln/>
        </p:spPr>
      </p:sp>
      <p:sp>
        <p:nvSpPr>
          <p:cNvPr id="18" name="Text 16"/>
          <p:cNvSpPr/>
          <p:nvPr/>
        </p:nvSpPr>
        <p:spPr>
          <a:xfrm>
            <a:off x="6309360" y="42519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vazia com município preenchido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09360" y="480060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1.162 de 8,9M linhas (fev/2026) — UF derivada dos 2 primeiros dígitos do código do município em vez de descartar a informação.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DADOS · ADR 0008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Gold: modelo estrela, grão agregado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480560" y="3017520"/>
            <a:ext cx="3200400" cy="1371600"/>
          </a:xfrm>
          <a:prstGeom prst="rect">
            <a:avLst/>
          </a:prstGeom>
          <a:solidFill>
            <a:srgbClr val="0B3D59"/>
          </a:solidFill>
          <a:ln/>
        </p:spPr>
      </p:sp>
      <p:sp>
        <p:nvSpPr>
          <p:cNvPr id="5" name="Text 3"/>
          <p:cNvSpPr/>
          <p:nvPr/>
        </p:nvSpPr>
        <p:spPr>
          <a:xfrm>
            <a:off x="4480560" y="318211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fct_cobertura_vacinal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480560" y="35661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qtd_doses  ·  grão: mês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480560" y="3931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C7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linha por combinação de dimensões — não por dose aplicada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48640" y="1691640"/>
            <a:ext cx="2651760" cy="1051560"/>
          </a:xfrm>
          <a:prstGeom prst="rect">
            <a:avLst/>
          </a:prstGeom>
          <a:solidFill>
            <a:srgbClr val="F4F7F8"/>
          </a:solidFill>
          <a:ln w="12700">
            <a:solidFill>
              <a:srgbClr val="E4EA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828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dim_tempo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21945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(era dia)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412480" y="1691640"/>
            <a:ext cx="2651760" cy="1051560"/>
          </a:xfrm>
          <a:prstGeom prst="rect">
            <a:avLst/>
          </a:prstGeom>
          <a:solidFill>
            <a:srgbClr val="F4F7F8"/>
          </a:solidFill>
          <a:ln w="12700">
            <a:solidFill>
              <a:srgbClr val="E4EA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0" y="18288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dim_municipio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412480" y="21945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nome/pop. IBGE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4937760"/>
            <a:ext cx="2651760" cy="1051560"/>
          </a:xfrm>
          <a:prstGeom prst="rect">
            <a:avLst/>
          </a:prstGeom>
          <a:solidFill>
            <a:srgbClr val="F4F7F8"/>
          </a:solidFill>
          <a:ln w="12700">
            <a:solidFill>
              <a:srgbClr val="E4EA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50749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dim_vacina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54406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nome (fonte)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412480" y="4937760"/>
            <a:ext cx="2651760" cy="1051560"/>
          </a:xfrm>
          <a:prstGeom prst="rect">
            <a:avLst/>
          </a:prstGeom>
          <a:solidFill>
            <a:srgbClr val="F4F7F8"/>
          </a:solidFill>
          <a:ln w="12700">
            <a:solidFill>
              <a:srgbClr val="E4EA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0" y="50749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dim_perfil_paciente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12480" y="54406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raça/cor + sexo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80560" y="5806440"/>
            <a:ext cx="2651760" cy="1051560"/>
          </a:xfrm>
          <a:prstGeom prst="rect">
            <a:avLst/>
          </a:prstGeom>
          <a:solidFill>
            <a:srgbClr val="F4F7F8"/>
          </a:solidFill>
          <a:ln w="12700">
            <a:solidFill>
              <a:srgbClr val="E4EA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0560" y="59436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dim_estrategia_vacinacao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480560" y="63093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nome (fonte)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 REAL · ADENDO ADR 0008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 milhões de linhas viraram 16,2 milhões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adicionar perfil demográfico e estratégia de vacinação como novas chaves, o grão diário original deixou de comprimir — a fato cresceu 10x além do objetivo do próprio desenho ("milhares de linhas, não milhões").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2651760"/>
            <a:ext cx="4206240" cy="2377440"/>
          </a:xfrm>
          <a:prstGeom prst="rect">
            <a:avLst/>
          </a:prstGeom>
          <a:solidFill>
            <a:srgbClr val="112E40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297180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55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49,0 M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1280160" y="397764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7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 diário (data_vacina)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280160" y="438912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E9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em fct_cobertura_vacinal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583680" y="2651760"/>
            <a:ext cx="4206240" cy="2377440"/>
          </a:xfrm>
          <a:prstGeom prst="rect">
            <a:avLst/>
          </a:prstGeom>
          <a:solidFill>
            <a:srgbClr val="112E4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297180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16,2 M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583680" y="397764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7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 mensal (mes_vacina)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83680" y="438912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E9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em fct_cobertura_vacinal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0" y="3520440"/>
            <a:ext cx="1051560" cy="502920"/>
          </a:xfrm>
          <a:prstGeom prst="rightArrow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534924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vacinal é reportada por mês/ano — nunca por dia. A granularidade perdida não era usada; o tamanho recuperado, sim.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ENRIQUECIMENTO · ADR 0004 + 0009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Nome e população reais de município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isso, dim_municipio só permitia contar doses — não calcular a taxa de cobertura (doses ÷ população), o indicador central do projeto.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611880" cy="347472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69748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97180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dos Dados (BigQuery público)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3794760"/>
            <a:ext cx="3063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br_bd_diretorios_brasil.municipio + br_ibge_populacao.municipio — consultado via source() do dbt, sem copiar dado, sem custo de armazenamento.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16552" y="2468880"/>
            <a:ext cx="3611880" cy="347472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10" name="Text 8"/>
          <p:cNvSpPr/>
          <p:nvPr/>
        </p:nvSpPr>
        <p:spPr>
          <a:xfrm>
            <a:off x="4690872" y="269748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690872" y="297180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estimativa mais recente disponível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90872" y="3794760"/>
            <a:ext cx="3063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trava em 2025: usa o ano mais recente com valor preenchido por município — corrige lacunas pontuais sem descartar informação.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84464" y="2468880"/>
            <a:ext cx="3611880" cy="347472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14" name="Text 12"/>
          <p:cNvSpPr/>
          <p:nvPr/>
        </p:nvSpPr>
        <p:spPr>
          <a:xfrm>
            <a:off x="8558784" y="269748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558784" y="297180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5.569 de 5.570 municípios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558784" y="3794760"/>
            <a:ext cx="3063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1 município (Boa Esperança do Norte/MT) sem estimativa em nenhum ano — limitação aceita e documentada, teste como warning.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 REAL · 2º REFINAMENTO ADR 0009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join de município não batia com nenhum município real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75564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Sintoma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97680" y="173736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D7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conectar o Power BI, nome_municipio, populacao e ano_populacao vieram vazios para TODOS os municípios — não só o caso isolado já conhecido.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743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271576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 raiz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297680" y="269748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D7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PNI usa o código legado de 6 dígitos do DATASUS/SUS. A Base dos Dados usa o código IBGE de 7 dígitos (6 dígitos + dígito verificador). O join nunca batia.</a:t>
            </a:r>
            <a:endParaRPr lang="en-US" sz="1180" dirty="0"/>
          </a:p>
        </p:txBody>
      </p:sp>
      <p:sp>
        <p:nvSpPr>
          <p:cNvPr id="12" name="Shape 10"/>
          <p:cNvSpPr/>
          <p:nvPr/>
        </p:nvSpPr>
        <p:spPr>
          <a:xfrm>
            <a:off x="640080" y="370332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703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367588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passou despercebido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297680" y="365760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D7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existia teste de not_null em nome_municipio/populacao na própria dim_municipio — só um teste isolado na tabela de origem.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640080" y="466344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663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63600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297680" y="461772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D7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id_municipio_6d = substr(id_municipio, 1, 6). Testado unique contra os 5.570 municípios reais — nenhuma colisão. Testes novos adicionados.</a:t>
            </a:r>
            <a:endParaRPr lang="en-US" sz="118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 REAL · ADENDO ADR 0008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De-para de vacina, dose e estratégia — resolvido sem tabela externa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pesquisa por tabelas oficiais do PNI (RNDS, guias estaduais) não foi conclusiva. A própria fonte já trazia o nome pronto — só não estava documentada.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10789920" cy="457200"/>
          </a:xfrm>
          <a:prstGeom prst="rect">
            <a:avLst/>
          </a:prstGeom>
          <a:solidFill>
            <a:srgbClr val="0B3D5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5146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840480" y="2514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(já vem da fonte)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675120" y="25146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com dado real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10789920" cy="68580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01752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co_vacina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840480" y="301752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ds_nome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675120" y="3017520"/>
            <a:ext cx="4480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vacinas distintas, ex.: "vacina febre amarela (atenuada)"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1078992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70332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co_dose_vacina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840480" y="370332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ds_tipo_dose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675120" y="3703320"/>
            <a:ext cx="4480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"1ª Dose", "Única", "Reforço"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389120"/>
            <a:ext cx="10789920" cy="68580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38912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co_estrategia_vacinacao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840480" y="438912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no_estrategia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675120" y="4389120"/>
            <a:ext cx="4480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códigos — inclusive 10 a 15, que a tabela do RNDS não cobria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53035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 1-pra-1 contra os 7 meses reais antes de aplicar — nenhum código apareceu com mais de um nome distinto.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· ADR 0003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 real, custo real: R$ 0,62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291840" cy="42062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7432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R$ 0,62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22960" y="365760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6FB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real acumulado no mês, confirmado no relatório de faturamento do Google Cloud (100% processamento de consulta no BigQuery)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51960" y="1874520"/>
            <a:ext cx="457200" cy="457200"/>
          </a:xfrm>
          <a:prstGeom prst="ellipse">
            <a:avLst/>
          </a:prstGeom>
          <a:solidFill>
            <a:srgbClr val="0B3D59"/>
          </a:solidFill>
          <a:ln/>
        </p:spPr>
      </p:sp>
      <p:sp>
        <p:nvSpPr>
          <p:cNvPr id="8" name="Text 6"/>
          <p:cNvSpPr/>
          <p:nvPr/>
        </p:nvSpPr>
        <p:spPr>
          <a:xfrm>
            <a:off x="42519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92040" y="1856232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 diária de consulta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892040" y="2221992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Barreira dura no BigQuery — recusa a consulta antes dela rodar, em vez de cobrar depois.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51960" y="2898648"/>
            <a:ext cx="457200" cy="457200"/>
          </a:xfrm>
          <a:prstGeom prst="ellipse">
            <a:avLst/>
          </a:prstGeom>
          <a:solidFill>
            <a:srgbClr val="0B3D59"/>
          </a:solidFill>
          <a:ln/>
        </p:spPr>
      </p:sp>
      <p:sp>
        <p:nvSpPr>
          <p:cNvPr id="12" name="Text 10"/>
          <p:cNvSpPr/>
          <p:nvPr/>
        </p:nvSpPr>
        <p:spPr>
          <a:xfrm>
            <a:off x="4251960" y="28986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892040" y="288036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maximum_bytes_billed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892040" y="32461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de segurança no profiles.yml do dbt (elevado de 10 GB para 20 GB conforme o volume real cresceu).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51960" y="3922776"/>
            <a:ext cx="457200" cy="457200"/>
          </a:xfrm>
          <a:prstGeom prst="ellipse">
            <a:avLst/>
          </a:prstGeom>
          <a:solidFill>
            <a:srgbClr val="0B3D59"/>
          </a:solidFill>
          <a:ln/>
        </p:spPr>
      </p:sp>
      <p:sp>
        <p:nvSpPr>
          <p:cNvPr id="16" name="Text 14"/>
          <p:cNvSpPr/>
          <p:nvPr/>
        </p:nvSpPr>
        <p:spPr>
          <a:xfrm>
            <a:off x="4251960" y="39227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892040" y="3904488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always-free permanente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892040" y="4270248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GiB de armazenamento + 1 TiB de consulta por mês — sem cartão de crédito acionado.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51960" y="4946904"/>
            <a:ext cx="457200" cy="457200"/>
          </a:xfrm>
          <a:prstGeom prst="ellipse">
            <a:avLst/>
          </a:prstGeom>
          <a:solidFill>
            <a:srgbClr val="0B3D59"/>
          </a:solidFill>
          <a:ln/>
        </p:spPr>
      </p:sp>
      <p:sp>
        <p:nvSpPr>
          <p:cNvPr id="20" name="Text 18"/>
          <p:cNvSpPr/>
          <p:nvPr/>
        </p:nvSpPr>
        <p:spPr>
          <a:xfrm>
            <a:off x="4251960" y="4946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892040" y="4928616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orçamento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892040" y="5294376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Notificação configurada em paralelo à cota técnica, como segunda camada de aviso.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CONTÍNUA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Testes automatizados a cada mudança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210312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65960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dbt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306324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not_null, unique, accepted_values, relationships entre fato e dimensões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3520440" cy="210312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9" name="Text 7"/>
          <p:cNvSpPr/>
          <p:nvPr/>
        </p:nvSpPr>
        <p:spPr>
          <a:xfrm>
            <a:off x="4343400" y="1965960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343400" y="269748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0" y="306324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última validação completa contra os 7 meses reais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138160" y="1783080"/>
            <a:ext cx="3520440" cy="210312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13" name="Text 11"/>
          <p:cNvSpPr/>
          <p:nvPr/>
        </p:nvSpPr>
        <p:spPr>
          <a:xfrm>
            <a:off x="8138160" y="1965960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8138160" y="269748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 (aceitos)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66760" y="306324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poucos municípios sem nome/população na fonte pública — casos residuais documentados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420624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orquestra dbt build / dbt docs generate a cada alteração — regra combinada do trio: ninguém faz merge de código que não sabe explicar.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decisão relevante vira um ADR no momento em que é tomada — 10 registrados até aqui, incluindo os achados e correções desta apresentação.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ATUAL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já fecha, e o que ainda falta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5029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37360"/>
            <a:ext cx="5349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Concluído e validado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5349240" cy="384048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514600"/>
            <a:ext cx="47091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estrela completo (fato + 5 dimensões), dbt build revalidado contra os 7 meses completos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Enriquecimento IBGE (nome, população e região de município)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De-para de vacina, dose e estratégia resolvido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 do join de município (6 vs 7 dígitos) e das Regiões Administrativas do DF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 mensal na fato (49M → 16,2M linhas)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Relação faixa_etaria criada no modelo do Power BI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349240" cy="502920"/>
          </a:xfrm>
          <a:prstGeom prst="rect">
            <a:avLst/>
          </a:prstGeom>
          <a:solidFill>
            <a:srgbClr val="E5533C"/>
          </a:solidFill>
          <a:ln/>
        </p:spPr>
      </p:sp>
      <p:sp>
        <p:nvSpPr>
          <p:cNvPr id="9" name="Text 7"/>
          <p:cNvSpPr/>
          <p:nvPr/>
        </p:nvSpPr>
        <p:spPr>
          <a:xfrm>
            <a:off x="6172200" y="1737360"/>
            <a:ext cx="5349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2286000"/>
            <a:ext cx="5349240" cy="3840480"/>
          </a:xfrm>
          <a:prstGeom prst="rect">
            <a:avLst/>
          </a:prstGeom>
          <a:solidFill>
            <a:srgbClr val="F4F7F8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514600"/>
            <a:ext cx="47091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atualização das 5 tabelas afetadas no Power BI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De-para entre as 19 vacinas oficiais (meta_vacinal) e os ~90 nomes reais em dim_vacina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Migrar a fato pra materialização incremental — reduzir bytes escaneados por rodada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Dimensões de estabelecimento e lote/fabricante — adiadas (risco de cardinalidade)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Narrativa e visualizações finais (Ellen e Andressa)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4114800"/>
            <a:ext cx="5486400" cy="5486400"/>
          </a:xfrm>
          <a:prstGeom prst="ellipse">
            <a:avLst/>
          </a:prstGeom>
          <a:solidFill>
            <a:srgbClr val="0B3D59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3774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Obrigada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33756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Dados — Cobertura Vacinal (PNI/DataSUS)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3977640"/>
            <a:ext cx="292608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206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github.com/gioalvarino/Projeto-MBA-Uniesp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617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ADRs, dicionário de dados e histórico de decisões — tudo público no repositório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7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Giovanna Alvarino · Andressa · Ellen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2026-08-24T17:44:38Z</dcterms:created>
  <dcterms:modified xsi:type="dcterms:W3CDTF">2026-08-24T17:44:38Z</dcterms:modified>
</cp:coreProperties>
</file>